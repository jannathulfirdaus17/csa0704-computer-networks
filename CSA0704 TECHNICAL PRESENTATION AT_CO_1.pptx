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663440"/>
            <a:ext cx="914400" cy="45720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663440"/>
            <a:ext cx="731520" cy="64008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4663440"/>
            <a:ext cx="365760" cy="118872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5120640"/>
            <a:ext cx="548640" cy="73152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0" y="4297680"/>
            <a:ext cx="182880" cy="100584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4480560"/>
            <a:ext cx="457200" cy="640080"/>
          </a:xfrm>
          <a:prstGeom prst="line">
            <a:avLst/>
          </a:prstGeom>
          <a:noFill/>
          <a:ln w="1587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7776" y="5065776"/>
            <a:ext cx="109728" cy="109728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9" name="Shape 7"/>
          <p:cNvSpPr/>
          <p:nvPr/>
        </p:nvSpPr>
        <p:spPr>
          <a:xfrm>
            <a:off x="10552176" y="4608576"/>
            <a:ext cx="109728" cy="109728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10" name="Shape 8"/>
          <p:cNvSpPr/>
          <p:nvPr/>
        </p:nvSpPr>
        <p:spPr>
          <a:xfrm>
            <a:off x="11283696" y="5248656"/>
            <a:ext cx="109728" cy="109728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11" name="Shape 9"/>
          <p:cNvSpPr/>
          <p:nvPr/>
        </p:nvSpPr>
        <p:spPr>
          <a:xfrm>
            <a:off x="10186416" y="5797296"/>
            <a:ext cx="109728" cy="109728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12" name="Shape 10"/>
          <p:cNvSpPr/>
          <p:nvPr/>
        </p:nvSpPr>
        <p:spPr>
          <a:xfrm>
            <a:off x="11466576" y="4242816"/>
            <a:ext cx="109728" cy="109728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13" name="Shape 11"/>
          <p:cNvSpPr/>
          <p:nvPr/>
        </p:nvSpPr>
        <p:spPr>
          <a:xfrm>
            <a:off x="9180576" y="4425696"/>
            <a:ext cx="109728" cy="109728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14" name="Text 1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6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TECHNICAL PRESENTATION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9875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Artificial Intelligence for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Traffic Management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Reframing the OSI Model's traffic-management role through machine learning and intelligent control</a:t>
            </a:r>
            <a:endParaRPr lang="en-US" sz="1500" dirty="0"/>
          </a:p>
        </p:txBody>
      </p:sp>
      <p:sp>
        <p:nvSpPr>
          <p:cNvPr id="20" name="Text Box 19"/>
          <p:cNvSpPr txBox="1"/>
          <p:nvPr/>
        </p:nvSpPr>
        <p:spPr>
          <a:xfrm>
            <a:off x="1741170" y="473075"/>
            <a:ext cx="7128510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828800" lvl="4" indent="457200"/>
            <a:r>
              <a:rPr lang="en-IN" altLang="en-US" sz="2400">
                <a:solidFill>
                  <a:schemeClr val="bg1"/>
                </a:solidFill>
              </a:rPr>
              <a:t>CSA0704 COMPUTER NETWORKS</a:t>
            </a:r>
            <a:endParaRPr lang="en-IN" altLang="en-US" sz="2400">
              <a:solidFill>
                <a:schemeClr val="bg1"/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7049135" y="4941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bg1"/>
                </a:solidFill>
              </a:rPr>
              <a:t>N. JANNATHUL FIRDAUS (192573025)</a:t>
            </a:r>
            <a:endParaRPr lang="en-I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Traditional Traffic Management Falls Short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Static, rule-based control struggles to keep pace with modern network demands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Networks today carry highly variable, bursty traffic across video, IoT, and cloud workloads. 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 routing tables and Layer 4 congestion controls in the OSI model were designed for predictable, human-scale traffic patterns — not the volume or volatility seen now.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  <a:effectLst>
            <a:outerShdw blurRad="76200" dist="25400" dir="5400000" algn="bl" rotWithShape="0">
              <a:srgbClr val="1C2733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7" name="Image 0" descr="ale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45555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370832"/>
            <a:ext cx="39319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thresholds and manual QoS rules cannot react in real time to sudden congestion, DDoS bursts, or shifting application mixes.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0" y="1874520"/>
            <a:ext cx="868680" cy="8686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83" y="20830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01368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3x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052560" y="1783080"/>
            <a:ext cx="21945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in global IP traffic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 the last 5 years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0" y="3108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3291840"/>
            <a:ext cx="868680" cy="8686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83" y="350032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3218688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&lt;50ms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9052560" y="3200400"/>
            <a:ext cx="21945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budget for real-time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&amp; industrial control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0" y="4526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72200" y="4709160"/>
            <a:ext cx="868680" cy="8686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683" y="491764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636008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24/7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052560" y="4617720"/>
            <a:ext cx="21945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adaptive decisions,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than manual tuning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Mapping AI Techniques onto the OSI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layer contributes different data that machine learning models can act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</p:spPr>
      </p:sp>
      <p:sp>
        <p:nvSpPr>
          <p:cNvPr id="5" name="Shape 3"/>
          <p:cNvSpPr/>
          <p:nvPr/>
        </p:nvSpPr>
        <p:spPr>
          <a:xfrm>
            <a:off x="822960" y="1856232"/>
            <a:ext cx="868680" cy="8686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064715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10512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3 — Network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2402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learning for adaptive routing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709160" y="1810512"/>
            <a:ext cx="6537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learn path choices that minimize latency and packet loss under changing load.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</p:spPr>
      </p:sp>
      <p:sp>
        <p:nvSpPr>
          <p:cNvPr id="11" name="Shape 8"/>
          <p:cNvSpPr/>
          <p:nvPr/>
        </p:nvSpPr>
        <p:spPr>
          <a:xfrm>
            <a:off x="822960" y="3410712"/>
            <a:ext cx="868680" cy="8686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2" name="Image 1" descr="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" y="3619195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3364992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4 — Transport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20240" y="379476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models for congestion prediction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09160" y="3364992"/>
            <a:ext cx="6537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Classifiers forecast congestion windows to pre-emptively adjust flow control.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</p:spPr>
      </p:sp>
      <p:sp>
        <p:nvSpPr>
          <p:cNvPr id="17" name="Shape 13"/>
          <p:cNvSpPr/>
          <p:nvPr/>
        </p:nvSpPr>
        <p:spPr>
          <a:xfrm>
            <a:off x="822960" y="4965192"/>
            <a:ext cx="868680" cy="86868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8" name="Image 2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5173675"/>
            <a:ext cx="451714" cy="45171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4919472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 7 — Application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920240" y="534924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for traffic classification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709160" y="4919472"/>
            <a:ext cx="6537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networks fingerprint application flows to prioritize latency-sensitive traffic.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an AI Traffic-Management Pipeline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closed loop from raw packets to controller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</p:spPr>
      </p:sp>
      <p:sp>
        <p:nvSpPr>
          <p:cNvPr id="5" name="Shape 3"/>
          <p:cNvSpPr/>
          <p:nvPr/>
        </p:nvSpPr>
        <p:spPr>
          <a:xfrm>
            <a:off x="1211580" y="2377440"/>
            <a:ext cx="640080" cy="640080"/>
          </a:xfrm>
          <a:prstGeom prst="ellipse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1580" y="23774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65860" y="32004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8" name="Image 0" descr="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425" y="337596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06908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Collect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Telemetry from switches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NetFlow/sFlow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2888" y="3621024"/>
            <a:ext cx="219456" cy="164592"/>
          </a:xfrm>
          <a:prstGeom prst="rightArrow">
            <a:avLst/>
          </a:prstGeom>
          <a:solidFill>
            <a:srgbClr val="1C7293"/>
          </a:solidFill>
        </p:spPr>
      </p:sp>
      <p:sp>
        <p:nvSpPr>
          <p:cNvPr id="12" name="Shape 9"/>
          <p:cNvSpPr/>
          <p:nvPr/>
        </p:nvSpPr>
        <p:spPr>
          <a:xfrm>
            <a:off x="2770632" y="21031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</p:spPr>
      </p:sp>
      <p:sp>
        <p:nvSpPr>
          <p:cNvPr id="13" name="Shape 10"/>
          <p:cNvSpPr/>
          <p:nvPr/>
        </p:nvSpPr>
        <p:spPr>
          <a:xfrm>
            <a:off x="3433572" y="2377440"/>
            <a:ext cx="640080" cy="640080"/>
          </a:xfrm>
          <a:prstGeom prst="ellipse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33572" y="23774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387852" y="32004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1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417" y="337596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62072" y="406908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Extract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862072" y="443484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engineering: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rate, jitter, size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54880" y="3621024"/>
            <a:ext cx="219456" cy="164592"/>
          </a:xfrm>
          <a:prstGeom prst="rightArrow">
            <a:avLst/>
          </a:prstGeom>
          <a:solidFill>
            <a:srgbClr val="1C7293"/>
          </a:solidFill>
        </p:spPr>
      </p:sp>
      <p:sp>
        <p:nvSpPr>
          <p:cNvPr id="20" name="Shape 16"/>
          <p:cNvSpPr/>
          <p:nvPr/>
        </p:nvSpPr>
        <p:spPr>
          <a:xfrm>
            <a:off x="4992624" y="21031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</p:spPr>
      </p:sp>
      <p:sp>
        <p:nvSpPr>
          <p:cNvPr id="21" name="Shape 17"/>
          <p:cNvSpPr/>
          <p:nvPr/>
        </p:nvSpPr>
        <p:spPr>
          <a:xfrm>
            <a:off x="5655564" y="2377440"/>
            <a:ext cx="640080" cy="640080"/>
          </a:xfrm>
          <a:prstGeom prst="ellipse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55564" y="23774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609844" y="32004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4" name="Image 2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3375965"/>
            <a:ext cx="380390" cy="3803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84064" y="406908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084064" y="443484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 forecasts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congestion &amp; anomalies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976872" y="3621024"/>
            <a:ext cx="219456" cy="164592"/>
          </a:xfrm>
          <a:prstGeom prst="rightArrow">
            <a:avLst/>
          </a:prstGeom>
          <a:solidFill>
            <a:srgbClr val="1C7293"/>
          </a:solidFill>
        </p:spPr>
      </p:sp>
      <p:sp>
        <p:nvSpPr>
          <p:cNvPr id="28" name="Shape 23"/>
          <p:cNvSpPr/>
          <p:nvPr/>
        </p:nvSpPr>
        <p:spPr>
          <a:xfrm>
            <a:off x="7214616" y="21031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</p:spPr>
      </p:sp>
      <p:sp>
        <p:nvSpPr>
          <p:cNvPr id="29" name="Shape 24"/>
          <p:cNvSpPr/>
          <p:nvPr/>
        </p:nvSpPr>
        <p:spPr>
          <a:xfrm>
            <a:off x="7877556" y="2377440"/>
            <a:ext cx="640080" cy="640080"/>
          </a:xfrm>
          <a:prstGeom prst="ellipse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877556" y="23774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7831836" y="32004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2" name="Image 3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401" y="3375965"/>
            <a:ext cx="380390" cy="38039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06056" y="406908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Decide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306056" y="443484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engine ranks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routing/QoS options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198864" y="3621024"/>
            <a:ext cx="219456" cy="164592"/>
          </a:xfrm>
          <a:prstGeom prst="rightArrow">
            <a:avLst/>
          </a:prstGeom>
          <a:solidFill>
            <a:srgbClr val="1C7293"/>
          </a:solidFill>
        </p:spPr>
      </p:sp>
      <p:sp>
        <p:nvSpPr>
          <p:cNvPr id="36" name="Shape 30"/>
          <p:cNvSpPr/>
          <p:nvPr/>
        </p:nvSpPr>
        <p:spPr>
          <a:xfrm>
            <a:off x="9436608" y="21031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</p:spPr>
      </p:sp>
      <p:sp>
        <p:nvSpPr>
          <p:cNvPr id="37" name="Shape 31"/>
          <p:cNvSpPr/>
          <p:nvPr/>
        </p:nvSpPr>
        <p:spPr>
          <a:xfrm>
            <a:off x="10099548" y="2377440"/>
            <a:ext cx="640080" cy="640080"/>
          </a:xfrm>
          <a:prstGeom prst="ellipse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099548" y="23774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Shape 33"/>
          <p:cNvSpPr/>
          <p:nvPr/>
        </p:nvSpPr>
        <p:spPr>
          <a:xfrm>
            <a:off x="10053828" y="32004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0" name="Image 4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393" y="3375965"/>
            <a:ext cx="380390" cy="38039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28048" y="406908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9528048" y="4434840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SDN controller pushes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updated flow rules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Benefits, Challenges &amp; Outlook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strengthens OSI-based traffic control, but adoption comes with trade-offs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2E7D32"/>
          </a:solidFill>
        </p:spPr>
      </p:sp>
      <p:pic>
        <p:nvPicPr>
          <p:cNvPr id="6" name="Image 0" descr="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628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1772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adaptation to congestion &amp; anomalies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routing reduces packet loss and latency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QoS prioritization for critical traffic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across large, dynamic SDN environments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920240"/>
            <a:ext cx="594360" cy="594360"/>
          </a:xfrm>
          <a:prstGeom prst="ellipse">
            <a:avLst/>
          </a:prstGeom>
          <a:solidFill>
            <a:srgbClr val="B23A2E"/>
          </a:solidFill>
        </p:spPr>
      </p:sp>
      <p:pic>
        <p:nvPicPr>
          <p:cNvPr id="11" name="Image 1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726" y="20628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659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89204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large, high-quality labeled traffic datasets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drift as traffic patterns evolve over time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 of automated routing decisions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1226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overhead with legacy OSI-based gear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5486400"/>
            <a:ext cx="108813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Outlook: AI-driven traffic management is converging with SDN and NFV to make the OSI model self-optimizing rather than statically configured.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2438</Words>
  <Application>WPS Presentation</Application>
  <PresentationFormat/>
  <Paragraphs>116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Jannathul Firdaus</cp:lastModifiedBy>
  <cp:revision>1</cp:revision>
  <dcterms:created xsi:type="dcterms:W3CDTF">2026-07-14T16:20:54Z</dcterms:created>
  <dcterms:modified xsi:type="dcterms:W3CDTF">2026-07-14T16:20:54Z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E2BF6801D6A542D89002116D430FA52D_12</vt:lpwstr>
  </property>
  <property fmtid="{D5CDD505-2E9C-101B-9397-08002B2CF9AE}" pid="3" name="KSOProductBuildVer">
    <vt:lpwstr>1033-12.1.0.26880</vt:lpwstr>
  </property>
</Properties>
</file>